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Fraunces"/>
      <p:regular r:id="rId13"/>
      <p:bold r:id="rId14"/>
      <p:italic r:id="rId15"/>
      <p:boldItalic r:id="rId16"/>
    </p:embeddedFont>
    <p:embeddedFont>
      <p:font typeface="Plus Jakarta Sans"/>
      <p:regular r:id="rId17"/>
      <p:bold r:id="rId18"/>
      <p:italic r:id="rId19"/>
      <p:boldItalic r:id="rId20"/>
    </p:embeddedFont>
    <p:embeddedFont>
      <p:font typeface="Plus Jakarta Sans Medium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BACA4E-C546-4E2E-86BE-5A7B920726A3}">
  <a:tblStyle styleId="{F8BACA4E-C546-4E2E-86BE-5A7B920726A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Italic.fntdata"/><Relationship Id="rId11" Type="http://schemas.openxmlformats.org/officeDocument/2006/relationships/slide" Target="slides/slide5.xml"/><Relationship Id="rId22" Type="http://schemas.openxmlformats.org/officeDocument/2006/relationships/font" Target="fonts/PlusJakartaSansMedium-bold.fntdata"/><Relationship Id="rId10" Type="http://schemas.openxmlformats.org/officeDocument/2006/relationships/slide" Target="slides/slide4.xml"/><Relationship Id="rId21" Type="http://schemas.openxmlformats.org/officeDocument/2006/relationships/font" Target="fonts/PlusJakartaSansMedium-regular.fntdata"/><Relationship Id="rId13" Type="http://schemas.openxmlformats.org/officeDocument/2006/relationships/font" Target="fonts/Fraunces-regular.fntdata"/><Relationship Id="rId24" Type="http://schemas.openxmlformats.org/officeDocument/2006/relationships/font" Target="fonts/PlusJakartaSansMedium-boldItalic.fntdata"/><Relationship Id="rId12" Type="http://schemas.openxmlformats.org/officeDocument/2006/relationships/slide" Target="slides/slide6.xml"/><Relationship Id="rId23" Type="http://schemas.openxmlformats.org/officeDocument/2006/relationships/font" Target="fonts/PlusJakartaSans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Fraunces-italic.fntdata"/><Relationship Id="rId14" Type="http://schemas.openxmlformats.org/officeDocument/2006/relationships/font" Target="fonts/Fraunces-bold.fntdata"/><Relationship Id="rId17" Type="http://schemas.openxmlformats.org/officeDocument/2006/relationships/font" Target="fonts/PlusJakartaSans-regular.fntdata"/><Relationship Id="rId16" Type="http://schemas.openxmlformats.org/officeDocument/2006/relationships/font" Target="fonts/Fraunces-bold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PlusJakartaSans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lusJakarta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19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809750" y="2507902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97706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STRATEGIC BRIEFING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595437" y="2822227"/>
            <a:ext cx="9001125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Fraunces"/>
                <a:ea typeface="Fraunces"/>
                <a:cs typeface="Fraunces"/>
                <a:sym typeface="Fraunces"/>
              </a:rPr>
              <a:t>Managing Middleman Risks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3721298"/>
            <a:ext cx="8572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Balancing the trade-offs of intermediation: How organizations identify operational vulnerabilities, evaluate disintermediation costs, and execute risk mitigation strategies.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81250"/>
            <a:ext cx="336545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381250"/>
            <a:ext cx="336545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381250"/>
            <a:ext cx="3365450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057275" y="3343275"/>
            <a:ext cx="29136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Fraunces"/>
                <a:ea typeface="Fraunces"/>
                <a:cs typeface="Fraunces"/>
                <a:sym typeface="Fraunces"/>
              </a:rPr>
              <a:t>Double Marginalization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57275" y="3724275"/>
            <a:ext cx="2774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Every step of intermediation introduces markup layers. Over-reliance on third-party brokers leads to inflated acquisition costs and compressed margin structures.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708475" y="3343275"/>
            <a:ext cx="29136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Fraunces"/>
                <a:ea typeface="Fraunces"/>
                <a:cs typeface="Fraunces"/>
                <a:sym typeface="Fraunces"/>
              </a:rPr>
              <a:t>Opaque Value Chains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708475" y="3724275"/>
            <a:ext cx="2774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Intermediaries deliberately control end-consumer relationships, completely masking valuable behavioral data, limiting brand-level transparency, and delaying feedback loops.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359675" y="3343275"/>
            <a:ext cx="29136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Fraunces"/>
                <a:ea typeface="Fraunces"/>
                <a:cs typeface="Fraunces"/>
                <a:sym typeface="Fraunces"/>
              </a:rPr>
              <a:t>Agency Misalignment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359675" y="3724275"/>
            <a:ext cx="2774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Brokers prioritize localized commission volumes and individual margins over long-term strategic alignments, sometimes misrepresenting brand value propositions.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7813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08475" y="2781300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781300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904875" y="571500"/>
            <a:ext cx="11051381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Fraunces"/>
                <a:ea typeface="Fraunces"/>
                <a:cs typeface="Fraunces"/>
                <a:sym typeface="Fraunces"/>
              </a:rPr>
              <a:t>The Anatomy of Middleman Risks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579441"/>
            <a:ext cx="47625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904875" y="762000"/>
            <a:ext cx="4850606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Fraunces"/>
                <a:ea typeface="Fraunces"/>
                <a:cs typeface="Fraunces"/>
                <a:sym typeface="Fraunces"/>
              </a:rPr>
              <a:t>Unlocking Direct-to-Source Value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762000" y="762000"/>
            <a:ext cx="47625" cy="8953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762000" y="2240458"/>
            <a:ext cx="5000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97706"/>
                </a:solidFill>
                <a:latin typeface="Fraunces"/>
                <a:ea typeface="Fraunces"/>
                <a:cs typeface="Fraunces"/>
                <a:sym typeface="Fraunces"/>
              </a:rPr>
              <a:t>The Disintermediation Trade-Off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62000" y="2707183"/>
            <a:ext cx="4762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Bypassing standard distribution layers cuts the direct fat out of transactions. It enables immediate price optimizations, direct quality controls, and unmatched customer touchpoint ownership.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62000" y="3609975"/>
            <a:ext cx="4762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However, cutting the middleman redirects logistical burdens—such as micro-fulfillment, customized packaging, local regulatory risk, and local support desks—entirely to your core organization.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90600" y="4769941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Fraunces"/>
                <a:ea typeface="Fraunces"/>
                <a:cs typeface="Fraunces"/>
                <a:sym typeface="Fraunces"/>
              </a:rPr>
              <a:t>Up to 34%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90600" y="5265241"/>
            <a:ext cx="4343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GROSS MARGIN RECOVERY SEEN BY DIRECT-TO-CONSUMER MODELS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57375"/>
            <a:ext cx="10668000" cy="387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/>
          <p:nvPr/>
        </p:nvSpPr>
        <p:spPr>
          <a:xfrm>
            <a:off x="771525" y="1866900"/>
            <a:ext cx="10648950" cy="38576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8" name="Google Shape;128;p16"/>
          <p:cNvGraphicFramePr/>
          <p:nvPr/>
        </p:nvGraphicFramePr>
        <p:xfrm>
          <a:off x="771525" y="18669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{F8BACA4E-C546-4E2E-86BE-5A7B920726A3}</a:tableStyleId>
              </a:tblPr>
              <a:tblGrid>
                <a:gridCol w="2105175"/>
                <a:gridCol w="2328575"/>
                <a:gridCol w="2389125"/>
                <a:gridCol w="3826075"/>
              </a:tblGrid>
              <a:tr h="77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Strategic Dimension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Direct Sourcing (D2C)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Intermediated Sourcing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Vulnerability Focus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Customer Relationship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Direct &amp; Unified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Siloed &amp; Brokered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Information blackout; loss of direct feedback loops.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Operational Scalability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High internal resource demand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Fast out-of-the-box scaling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High dependency; switching costs can prove paralyzing.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Transaction Transparency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100% Auditable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Hidden Fees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Double marginalization; hidden markups.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Supply Chain Resilience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Direct liability &amp; ownership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Buffered by external networks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Platform and compliance risk during bottlenecks.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9" name="Google Shape;129;p16"/>
          <p:cNvSpPr/>
          <p:nvPr/>
        </p:nvSpPr>
        <p:spPr>
          <a:xfrm>
            <a:off x="771525" y="2619375"/>
            <a:ext cx="2105173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2876698" y="2619375"/>
            <a:ext cx="2328564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5205263" y="2619375"/>
            <a:ext cx="2389137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7594401" y="2619375"/>
            <a:ext cx="3826073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771525" y="3405187"/>
            <a:ext cx="21051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2876698" y="3405187"/>
            <a:ext cx="232856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205263" y="3405187"/>
            <a:ext cx="238913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7594401" y="3405187"/>
            <a:ext cx="38260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771525" y="4176712"/>
            <a:ext cx="21051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2876698" y="4176712"/>
            <a:ext cx="232856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5205263" y="4176712"/>
            <a:ext cx="238913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7594401" y="4176712"/>
            <a:ext cx="38260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771525" y="4948237"/>
            <a:ext cx="21051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2876698" y="4948237"/>
            <a:ext cx="232856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5205263" y="4948237"/>
            <a:ext cx="238913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7594401" y="4948237"/>
            <a:ext cx="38260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05298" y="2899469"/>
            <a:ext cx="1181100" cy="258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33863" y="2899469"/>
            <a:ext cx="1381125" cy="258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05298" y="4442519"/>
            <a:ext cx="1190625" cy="258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33863" y="4442519"/>
            <a:ext cx="923925" cy="25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904875" y="571500"/>
            <a:ext cx="11051381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Fraunces"/>
                <a:ea typeface="Fraunces"/>
                <a:cs typeface="Fraunces"/>
                <a:sym typeface="Fraunces"/>
              </a:rPr>
              <a:t>Direct vs. Intermediated Strategy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26977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1905000" y="2269777"/>
            <a:ext cx="94011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Implement Hybrid Sourcing Architectures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905000" y="2601217"/>
            <a:ext cx="895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Combine direct channels for high-volume markets with trusted local intermediaries for complex, low-volume jurisdictions to hedge operational liabilities.</a:t>
            </a:r>
            <a:endParaRPr/>
          </a:p>
        </p:txBody>
      </p:sp>
      <p:pic>
        <p:nvPicPr>
          <p:cNvPr descr="image.png" id="159" name="Google Shape;15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28701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1905000" y="3287017"/>
            <a:ext cx="94011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Enforce Transparent Service Level Agreements (SLAs)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905000" y="3618458"/>
            <a:ext cx="895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 broker relationships with ironclad clauses requiring full end-to-end data transparency, cost audit-ability, and regular customer sentiment surveys.</a:t>
            </a:r>
            <a:endParaRPr/>
          </a:p>
        </p:txBody>
      </p:sp>
      <p:pic>
        <p:nvPicPr>
          <p:cNvPr descr="image.png" id="162" name="Google Shape;16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4304258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1905000" y="4304258"/>
            <a:ext cx="94011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Leverage Smart Contracts &amp; Digital Marketplaces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1905000" y="4635698"/>
            <a:ext cx="895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Reduce dependency on traditional paper-shuffling brokers by migrating transaction verification and payments to automated systems, preserving transparency.</a:t>
            </a:r>
            <a:endParaRPr/>
          </a:p>
        </p:txBody>
      </p:sp>
      <p:pic>
        <p:nvPicPr>
          <p:cNvPr descr="image.png" id="165" name="Google Shape;16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57325" y="239360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57325" y="341084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33512" y="4428083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904875" y="571500"/>
            <a:ext cx="11051381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Fraunces"/>
                <a:ea typeface="Fraunces"/>
                <a:cs typeface="Fraunces"/>
                <a:sym typeface="Fraunces"/>
              </a:rPr>
              <a:t>Active Risk Mitigation Strategies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4049950" y="2915750"/>
            <a:ext cx="32187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F172A"/>
                </a:solidFill>
                <a:latin typeface="Fraunces"/>
                <a:ea typeface="Fraunces"/>
                <a:cs typeface="Fraunces"/>
                <a:sym typeface="Fraunces"/>
              </a:rPr>
              <a:t>THANK YOU 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762000" y="571500"/>
            <a:ext cx="47625" cy="4476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